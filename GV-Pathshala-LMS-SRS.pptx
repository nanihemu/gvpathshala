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2721873-7469-c4ca-7ce5-577d8fd3e914}">
          <p14:sldIdLst>
            <p14:sldId id="256"/>
          </p14:sldIdLst>
        </p14:section>
        <p14:section name="Overview" id="{4d177d9d-5a5b-7290-6ef5-2ebf60ca6d00}">
          <p14:sldIdLst>
            <p14:sldId id="257"/>
            <p14:sldId id="258"/>
            <p14:sldId id="259"/>
          </p14:sldIdLst>
        </p14:section>
        <p14:section name="Requirements" id="{36a0e45d-bc38-6e8e-1a6c-877f460043cf}">
          <p14:sldIdLst>
            <p14:sldId id="260"/>
            <p14:sldId id="264"/>
          </p14:sldIdLst>
        </p14:section>
        <p14:section name="AI features" id="{ffc81b36-b3bb-5676-14aa-0c79e66a29f1}">
          <p14:sldIdLst>
            <p14:sldId id="261"/>
            <p14:sldId id="262"/>
            <p14:sldId id="263"/>
          </p14:sldIdLst>
        </p14:section>
        <p14:section name="Delivery" id="{33409daa-6d03-0a2c-3dff-9e2adfcff7ba}">
          <p14:sldIdLst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 Pathshala LMS: Software Requirements Specification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CC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 Pathshala Learning Management System</a:t>
            </a:r>
            <a:endParaRPr lang="en-US" sz="2800" dirty="0"/>
          </a:p>
        </p:txBody>
      </p:sp>
      <p:sp>
        <p:nvSpPr>
          <p:cNvPr id="4" name="Rule"/>
          <p:cNvSpPr/>
          <p:nvPr/>
        </p:nvSpPr>
        <p:spPr>
          <a:xfrm>
            <a:off x="640080" y="3566160"/>
            <a:ext cx="1463040" cy="54864"/>
          </a:xfrm>
          <a:prstGeom prst="rect">
            <a:avLst/>
          </a:prstGeom>
          <a:solidFill>
            <a:srgbClr val="F0B440"/>
          </a:solidFill>
          <a:ln w="12700">
            <a:solidFill>
              <a:srgbClr val="F0B440"/>
            </a:solidFill>
            <a:prstDash val="solid"/>
          </a:ln>
        </p:spPr>
      </p:sp>
      <p:sp>
        <p:nvSpPr>
          <p:cNvPr id="5" name="Details"/>
          <p:cNvSpPr txBox="1"/>
          <p:nvPr/>
        </p:nvSpPr>
        <p:spPr>
          <a:xfrm>
            <a:off x="64008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LMS with AI tutoring, assessment support and learning analytics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9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(draft), 14 October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9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GV Pathshala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course platform with an AI tutor built in</a:t>
            </a:r>
            <a:endParaRPr lang="en-US" sz="3200" dirty="0"/>
          </a:p>
        </p:txBody>
      </p:sp>
      <p:sp>
        <p:nvSpPr>
          <p:cNvPr id="3" name="Scope card"/>
          <p:cNvSpPr/>
          <p:nvPr/>
        </p:nvSpPr>
        <p:spPr>
          <a:xfrm>
            <a:off x="640080" y="1463040"/>
            <a:ext cx="5303520" cy="448056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4" name="Scope accent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cope heading"/>
          <p:cNvSpPr txBox="1"/>
          <p:nvPr/>
        </p:nvSpPr>
        <p:spPr>
          <a:xfrm>
            <a:off x="914400" y="1627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for release 1.0</a:t>
            </a:r>
            <a:endParaRPr lang="en-US" sz="1800" dirty="0"/>
          </a:p>
        </p:txBody>
      </p:sp>
      <p:sp>
        <p:nvSpPr>
          <p:cNvPr id="6" name="Scope text"/>
          <p:cNvSpPr txBox="1"/>
          <p:nvPr/>
        </p:nvSpPr>
        <p:spPr>
          <a:xfrm>
            <a:off x="914400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roles and secure sign-in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lessons, quizzes and assignments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enrollment and progress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Grading, announcements, discussion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and reviews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reports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features</a:t>
            </a:r>
            <a:endParaRPr lang="en-US" sz="1800" dirty="0"/>
          </a:p>
        </p:txBody>
      </p:sp>
      <p:sp>
        <p:nvSpPr>
          <p:cNvPr id="7" name="Out of scope card"/>
          <p:cNvSpPr/>
          <p:nvPr/>
        </p:nvSpPr>
        <p:spPr>
          <a:xfrm>
            <a:off x="6245352" y="1463040"/>
            <a:ext cx="5303520" cy="448056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8" name="Out of scope accent"/>
          <p:cNvSpPr/>
          <p:nvPr/>
        </p:nvSpPr>
        <p:spPr>
          <a:xfrm>
            <a:off x="6245352" y="1463040"/>
            <a:ext cx="73152" cy="4480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Out of scope heading"/>
          <p:cNvSpPr txBox="1"/>
          <p:nvPr/>
        </p:nvSpPr>
        <p:spPr>
          <a:xfrm>
            <a:off x="6519672" y="1627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now</a:t>
            </a:r>
            <a:endParaRPr lang="en-US" sz="1800" dirty="0"/>
          </a:p>
        </p:txBody>
      </p:sp>
      <p:sp>
        <p:nvSpPr>
          <p:cNvPr id="10" name="Out of scope text"/>
          <p:cNvSpPr txBox="1"/>
          <p:nvPr/>
        </p:nvSpPr>
        <p:spPr>
          <a:xfrm>
            <a:off x="6519672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classes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use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other than English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 use the system</a:t>
            </a:r>
            <a:endParaRPr lang="en-US" sz="3200" dirty="0"/>
          </a:p>
        </p:txBody>
      </p:sp>
      <p:sp>
        <p:nvSpPr>
          <p:cNvPr id="3" name="Student card"/>
          <p:cNvSpPr/>
          <p:nvPr/>
        </p:nvSpPr>
        <p:spPr>
          <a:xfrm>
            <a:off x="640080" y="1554480"/>
            <a:ext cx="3520440" cy="292608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4" name="Student accent"/>
          <p:cNvSpPr/>
          <p:nvPr/>
        </p:nvSpPr>
        <p:spPr>
          <a:xfrm>
            <a:off x="640080" y="1554480"/>
            <a:ext cx="73152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udent heading"/>
          <p:cNvSpPr txBox="1"/>
          <p:nvPr/>
        </p:nvSpPr>
        <p:spPr>
          <a:xfrm>
            <a:off x="914400" y="17190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6" name="Student text"/>
          <p:cNvSpPr txBox="1"/>
          <p:nvPr/>
        </p:nvSpPr>
        <p:spPr>
          <a:xfrm>
            <a:off x="914400" y="22402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courses, learns at their own pace, asks the AI tutor, sees progress and grades.</a:t>
            </a:r>
            <a:endParaRPr lang="en-US" sz="1700" dirty="0"/>
          </a:p>
        </p:txBody>
      </p:sp>
      <p:sp>
        <p:nvSpPr>
          <p:cNvPr id="7" name="Instructor card"/>
          <p:cNvSpPr/>
          <p:nvPr/>
        </p:nvSpPr>
        <p:spPr>
          <a:xfrm>
            <a:off x="4389120" y="1554480"/>
            <a:ext cx="3520440" cy="292608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8" name="Instructor accent"/>
          <p:cNvSpPr/>
          <p:nvPr/>
        </p:nvSpPr>
        <p:spPr>
          <a:xfrm>
            <a:off x="4389120" y="1554480"/>
            <a:ext cx="73152" cy="2926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Instructor heading"/>
          <p:cNvSpPr txBox="1"/>
          <p:nvPr/>
        </p:nvSpPr>
        <p:spPr>
          <a:xfrm>
            <a:off x="4663440" y="17190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800" dirty="0"/>
          </a:p>
        </p:txBody>
      </p:sp>
      <p:sp>
        <p:nvSpPr>
          <p:cNvPr id="10" name="Instructor text"/>
          <p:cNvSpPr txBox="1"/>
          <p:nvPr/>
        </p:nvSpPr>
        <p:spPr>
          <a:xfrm>
            <a:off x="4663440" y="22402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courses, generates quiz drafts, grades with AI feedback drafts, spots students who need help.</a:t>
            </a:r>
            <a:endParaRPr lang="en-US" sz="1700" dirty="0"/>
          </a:p>
        </p:txBody>
      </p:sp>
      <p:sp>
        <p:nvSpPr>
          <p:cNvPr id="11" name="Administrator card"/>
          <p:cNvSpPr/>
          <p:nvPr/>
        </p:nvSpPr>
        <p:spPr>
          <a:xfrm>
            <a:off x="8138160" y="1554480"/>
            <a:ext cx="3520440" cy="292608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12" name="Administrator accent"/>
          <p:cNvSpPr/>
          <p:nvPr/>
        </p:nvSpPr>
        <p:spPr>
          <a:xfrm>
            <a:off x="8138160" y="1554480"/>
            <a:ext cx="73152" cy="2926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Administrator heading"/>
          <p:cNvSpPr txBox="1"/>
          <p:nvPr/>
        </p:nvSpPr>
        <p:spPr>
          <a:xfrm>
            <a:off x="8412480" y="17190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14" name="Administrator text"/>
          <p:cNvSpPr txBox="1"/>
          <p:nvPr/>
        </p:nvSpPr>
        <p:spPr>
          <a:xfrm>
            <a:off x="8412480" y="22402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courses and categories, and watches usage and system health.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fits together</a:t>
            </a:r>
            <a:endParaRPr lang="en-US" sz="3200" dirty="0"/>
          </a:p>
        </p:txBody>
      </p:sp>
      <p:sp>
        <p:nvSpPr>
          <p:cNvPr id="3" name="Web client box"/>
          <p:cNvSpPr/>
          <p:nvPr/>
        </p:nvSpPr>
        <p:spPr>
          <a:xfrm>
            <a:off x="640080" y="1828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4" name="Web client label"/>
          <p:cNvSpPr txBox="1"/>
          <p:nvPr/>
        </p:nvSpPr>
        <p:spPr>
          <a:xfrm>
            <a:off x="777240" y="1828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client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instructor and admin screens</a:t>
            </a:r>
            <a:endParaRPr lang="en-US" sz="1800" dirty="0"/>
          </a:p>
        </p:txBody>
      </p:sp>
      <p:sp>
        <p:nvSpPr>
          <p:cNvPr id="5" name="API server box"/>
          <p:cNvSpPr/>
          <p:nvPr/>
        </p:nvSpPr>
        <p:spPr>
          <a:xfrm>
            <a:off x="4023360" y="18288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</p:sp>
      <p:sp>
        <p:nvSpPr>
          <p:cNvPr id="6" name="API server label"/>
          <p:cNvSpPr txBox="1"/>
          <p:nvPr/>
        </p:nvSpPr>
        <p:spPr>
          <a:xfrm>
            <a:off x="4160520" y="18288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auth, grading, notifications</a:t>
            </a:r>
            <a:endParaRPr lang="en-US" sz="1800" dirty="0"/>
          </a:p>
        </p:txBody>
      </p:sp>
      <p:sp>
        <p:nvSpPr>
          <p:cNvPr id="7" name="Database and storage box"/>
          <p:cNvSpPr/>
          <p:nvPr/>
        </p:nvSpPr>
        <p:spPr>
          <a:xfrm>
            <a:off x="8412480" y="18288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8" name="Database and storage label"/>
          <p:cNvSpPr txBox="1"/>
          <p:nvPr/>
        </p:nvSpPr>
        <p:spPr>
          <a:xfrm>
            <a:off x="8549640" y="18288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storage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pgvector, files</a:t>
            </a:r>
            <a:endParaRPr lang="en-US" sz="1800" dirty="0"/>
          </a:p>
        </p:txBody>
      </p:sp>
      <p:sp>
        <p:nvSpPr>
          <p:cNvPr id="9" name="AI service module box"/>
          <p:cNvSpPr/>
          <p:nvPr/>
        </p:nvSpPr>
        <p:spPr>
          <a:xfrm>
            <a:off x="4023360" y="40233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0" name="AI service module label"/>
          <p:cNvSpPr txBox="1"/>
          <p:nvPr/>
        </p:nvSpPr>
        <p:spPr>
          <a:xfrm>
            <a:off x="4160520" y="4023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module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prompts, safety checks</a:t>
            </a:r>
            <a:endParaRPr lang="en-US" sz="1800" dirty="0"/>
          </a:p>
        </p:txBody>
      </p:sp>
      <p:sp>
        <p:nvSpPr>
          <p:cNvPr id="11" name="AI model provider box"/>
          <p:cNvSpPr/>
          <p:nvPr/>
        </p:nvSpPr>
        <p:spPr>
          <a:xfrm>
            <a:off x="8412480" y="402336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2" name="AI model provider label"/>
          <p:cNvSpPr txBox="1"/>
          <p:nvPr/>
        </p:nvSpPr>
        <p:spPr>
          <a:xfrm>
            <a:off x="8549640" y="40233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provider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API, called only by the server</a:t>
            </a:r>
            <a:endParaRPr lang="en-US" sz="1800" dirty="0"/>
          </a:p>
        </p:txBody>
      </p:sp>
      <p:sp>
        <p:nvSpPr>
          <p:cNvPr id="13" name="Arrow"/>
          <p:cNvSpPr/>
          <p:nvPr/>
        </p:nvSpPr>
        <p:spPr>
          <a:xfrm>
            <a:off x="3200400" y="2514600"/>
            <a:ext cx="822960" cy="0"/>
          </a:xfrm>
          <a:prstGeom prst="line">
            <a:avLst/>
          </a:prstGeom>
          <a:noFill/>
          <a:ln w="25400">
            <a:solidFill>
              <a:srgbClr val="5A6B79"/>
            </a:solidFill>
            <a:prstDash val="solid"/>
            <a:tailEnd type="triangle"/>
          </a:ln>
        </p:spPr>
      </p:sp>
      <p:sp>
        <p:nvSpPr>
          <p:cNvPr id="14" name="Arrow"/>
          <p:cNvSpPr/>
          <p:nvPr/>
        </p:nvSpPr>
        <p:spPr>
          <a:xfrm>
            <a:off x="6766560" y="2514600"/>
            <a:ext cx="1645920" cy="0"/>
          </a:xfrm>
          <a:prstGeom prst="line">
            <a:avLst/>
          </a:prstGeom>
          <a:noFill/>
          <a:ln w="25400">
            <a:solidFill>
              <a:srgbClr val="5A6B79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5394960" y="3200400"/>
            <a:ext cx="0" cy="822960"/>
          </a:xfrm>
          <a:prstGeom prst="line">
            <a:avLst/>
          </a:prstGeom>
          <a:noFill/>
          <a:ln w="25400">
            <a:solidFill>
              <a:srgbClr val="5A6B79"/>
            </a:solidFill>
            <a:prstDash val="solid"/>
            <a:tailEnd type="triangle"/>
          </a:ln>
        </p:spPr>
      </p:sp>
      <p:sp>
        <p:nvSpPr>
          <p:cNvPr id="16" name="Arrow"/>
          <p:cNvSpPr/>
          <p:nvPr/>
        </p:nvSpPr>
        <p:spPr>
          <a:xfrm>
            <a:off x="6766560" y="4709160"/>
            <a:ext cx="1645920" cy="0"/>
          </a:xfrm>
          <a:prstGeom prst="line">
            <a:avLst/>
          </a:prstGeom>
          <a:noFill/>
          <a:ln w="25400">
            <a:solidFill>
              <a:srgbClr val="5A6B7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functional requirements in 13 areas</a:t>
            </a:r>
            <a:endParaRPr lang="en-US" sz="3200" dirty="0"/>
          </a:p>
        </p:txBody>
      </p:sp>
      <p:sp>
        <p:nvSpPr>
          <p:cNvPr id="3" name="AUTH card"/>
          <p:cNvSpPr/>
          <p:nvPr/>
        </p:nvSpPr>
        <p:spPr>
          <a:xfrm>
            <a:off x="640080" y="1371600"/>
            <a:ext cx="21031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4" name="AUTH title"/>
          <p:cNvSpPr txBox="1"/>
          <p:nvPr/>
        </p:nvSpPr>
        <p:spPr>
          <a:xfrm>
            <a:off x="77724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access control</a:t>
            </a:r>
            <a:endParaRPr lang="en-US" sz="1400" dirty="0"/>
          </a:p>
        </p:txBody>
      </p:sp>
      <p:sp>
        <p:nvSpPr>
          <p:cNvPr id="5" name="AUTH count"/>
          <p:cNvSpPr txBox="1"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requirements</a:t>
            </a:r>
            <a:endParaRPr lang="en-US" sz="1200" dirty="0"/>
          </a:p>
        </p:txBody>
      </p:sp>
      <p:sp>
        <p:nvSpPr>
          <p:cNvPr id="6" name="CRS card"/>
          <p:cNvSpPr/>
          <p:nvPr/>
        </p:nvSpPr>
        <p:spPr>
          <a:xfrm>
            <a:off x="2880360" y="1371600"/>
            <a:ext cx="21031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7" name="CRS title"/>
          <p:cNvSpPr txBox="1"/>
          <p:nvPr/>
        </p:nvSpPr>
        <p:spPr>
          <a:xfrm>
            <a:off x="301752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400" dirty="0"/>
          </a:p>
        </p:txBody>
      </p:sp>
      <p:sp>
        <p:nvSpPr>
          <p:cNvPr id="8" name="CRS count"/>
          <p:cNvSpPr txBox="1"/>
          <p:nvPr/>
        </p:nvSpPr>
        <p:spPr>
          <a:xfrm>
            <a:off x="30175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requirements</a:t>
            </a:r>
            <a:endParaRPr lang="en-US" sz="1200" dirty="0"/>
          </a:p>
        </p:txBody>
      </p:sp>
      <p:sp>
        <p:nvSpPr>
          <p:cNvPr id="9" name="ENR card"/>
          <p:cNvSpPr/>
          <p:nvPr/>
        </p:nvSpPr>
        <p:spPr>
          <a:xfrm>
            <a:off x="5120640" y="1371600"/>
            <a:ext cx="21031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10" name="ENR title"/>
          <p:cNvSpPr txBox="1"/>
          <p:nvPr/>
        </p:nvSpPr>
        <p:spPr>
          <a:xfrm>
            <a:off x="525780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and enrollment</a:t>
            </a:r>
            <a:endParaRPr lang="en-US" sz="1400" dirty="0"/>
          </a:p>
        </p:txBody>
      </p:sp>
      <p:sp>
        <p:nvSpPr>
          <p:cNvPr id="11" name="ENR count"/>
          <p:cNvSpPr txBox="1"/>
          <p:nvPr/>
        </p:nvSpPr>
        <p:spPr>
          <a:xfrm>
            <a:off x="52578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requirements</a:t>
            </a:r>
            <a:endParaRPr lang="en-US" sz="1200" dirty="0"/>
          </a:p>
        </p:txBody>
      </p:sp>
      <p:sp>
        <p:nvSpPr>
          <p:cNvPr id="12" name="LRN card"/>
          <p:cNvSpPr/>
          <p:nvPr/>
        </p:nvSpPr>
        <p:spPr>
          <a:xfrm>
            <a:off x="7360920" y="1371600"/>
            <a:ext cx="21031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13" name="LRN title"/>
          <p:cNvSpPr txBox="1"/>
          <p:nvPr/>
        </p:nvSpPr>
        <p:spPr>
          <a:xfrm>
            <a:off x="749808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 progress</a:t>
            </a:r>
            <a:endParaRPr lang="en-US" sz="1400" dirty="0"/>
          </a:p>
        </p:txBody>
      </p:sp>
      <p:sp>
        <p:nvSpPr>
          <p:cNvPr id="14" name="LRN count"/>
          <p:cNvSpPr txBox="1"/>
          <p:nvPr/>
        </p:nvSpPr>
        <p:spPr>
          <a:xfrm>
            <a:off x="74980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requirements</a:t>
            </a:r>
            <a:endParaRPr lang="en-US" sz="1200" dirty="0"/>
          </a:p>
        </p:txBody>
      </p:sp>
      <p:sp>
        <p:nvSpPr>
          <p:cNvPr id="15" name="QZ card"/>
          <p:cNvSpPr/>
          <p:nvPr/>
        </p:nvSpPr>
        <p:spPr>
          <a:xfrm>
            <a:off x="9601200" y="1371600"/>
            <a:ext cx="21031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16" name="QZ title"/>
          <p:cNvSpPr txBox="1"/>
          <p:nvPr/>
        </p:nvSpPr>
        <p:spPr>
          <a:xfrm>
            <a:off x="973836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400" dirty="0"/>
          </a:p>
        </p:txBody>
      </p:sp>
      <p:sp>
        <p:nvSpPr>
          <p:cNvPr id="17" name="QZ count"/>
          <p:cNvSpPr txBox="1"/>
          <p:nvPr/>
        </p:nvSpPr>
        <p:spPr>
          <a:xfrm>
            <a:off x="973836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requirements</a:t>
            </a:r>
            <a:endParaRPr lang="en-US" sz="1200" dirty="0"/>
          </a:p>
        </p:txBody>
      </p:sp>
      <p:sp>
        <p:nvSpPr>
          <p:cNvPr id="18" name="ASG card"/>
          <p:cNvSpPr/>
          <p:nvPr/>
        </p:nvSpPr>
        <p:spPr>
          <a:xfrm>
            <a:off x="640080" y="2880360"/>
            <a:ext cx="21031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19" name="ASG title"/>
          <p:cNvSpPr txBox="1"/>
          <p:nvPr/>
        </p:nvSpPr>
        <p:spPr>
          <a:xfrm>
            <a:off x="777240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and grading</a:t>
            </a:r>
            <a:endParaRPr lang="en-US" sz="1400" dirty="0"/>
          </a:p>
        </p:txBody>
      </p:sp>
      <p:sp>
        <p:nvSpPr>
          <p:cNvPr id="20" name="ASG count"/>
          <p:cNvSpPr txBox="1"/>
          <p:nvPr/>
        </p:nvSpPr>
        <p:spPr>
          <a:xfrm>
            <a:off x="7772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requirements</a:t>
            </a:r>
            <a:endParaRPr lang="en-US" sz="1200" dirty="0"/>
          </a:p>
        </p:txBody>
      </p:sp>
      <p:sp>
        <p:nvSpPr>
          <p:cNvPr id="21" name="COM card"/>
          <p:cNvSpPr/>
          <p:nvPr/>
        </p:nvSpPr>
        <p:spPr>
          <a:xfrm>
            <a:off x="2880360" y="2880360"/>
            <a:ext cx="21031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22" name="COM title"/>
          <p:cNvSpPr txBox="1"/>
          <p:nvPr/>
        </p:nvSpPr>
        <p:spPr>
          <a:xfrm>
            <a:off x="3017520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3" name="COM count"/>
          <p:cNvSpPr txBox="1"/>
          <p:nvPr/>
        </p:nvSpPr>
        <p:spPr>
          <a:xfrm>
            <a:off x="30175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requirements</a:t>
            </a:r>
            <a:endParaRPr lang="en-US" sz="1200" dirty="0"/>
          </a:p>
        </p:txBody>
      </p:sp>
      <p:sp>
        <p:nvSpPr>
          <p:cNvPr id="24" name="CRT card"/>
          <p:cNvSpPr/>
          <p:nvPr/>
        </p:nvSpPr>
        <p:spPr>
          <a:xfrm>
            <a:off x="5120640" y="2880360"/>
            <a:ext cx="21031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25" name="CRT title"/>
          <p:cNvSpPr txBox="1"/>
          <p:nvPr/>
        </p:nvSpPr>
        <p:spPr>
          <a:xfrm>
            <a:off x="5257800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and reviews</a:t>
            </a:r>
            <a:endParaRPr lang="en-US" sz="1400" dirty="0"/>
          </a:p>
        </p:txBody>
      </p:sp>
      <p:sp>
        <p:nvSpPr>
          <p:cNvPr id="26" name="CRT count"/>
          <p:cNvSpPr txBox="1"/>
          <p:nvPr/>
        </p:nvSpPr>
        <p:spPr>
          <a:xfrm>
            <a:off x="52578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requirements</a:t>
            </a:r>
            <a:endParaRPr lang="en-US" sz="1200" dirty="0"/>
          </a:p>
        </p:txBody>
      </p:sp>
      <p:sp>
        <p:nvSpPr>
          <p:cNvPr id="27" name="ADM card"/>
          <p:cNvSpPr/>
          <p:nvPr/>
        </p:nvSpPr>
        <p:spPr>
          <a:xfrm>
            <a:off x="7360920" y="2880360"/>
            <a:ext cx="21031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28" name="ADM title"/>
          <p:cNvSpPr txBox="1"/>
          <p:nvPr/>
        </p:nvSpPr>
        <p:spPr>
          <a:xfrm>
            <a:off x="7498080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and reporting</a:t>
            </a:r>
            <a:endParaRPr lang="en-US" sz="1400" dirty="0"/>
          </a:p>
        </p:txBody>
      </p:sp>
      <p:sp>
        <p:nvSpPr>
          <p:cNvPr id="29" name="ADM count"/>
          <p:cNvSpPr txBox="1"/>
          <p:nvPr/>
        </p:nvSpPr>
        <p:spPr>
          <a:xfrm>
            <a:off x="7498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requirements</a:t>
            </a:r>
            <a:endParaRPr lang="en-US" sz="1200" dirty="0"/>
          </a:p>
        </p:txBody>
      </p:sp>
      <p:sp>
        <p:nvSpPr>
          <p:cNvPr id="30" name="AIT card"/>
          <p:cNvSpPr/>
          <p:nvPr/>
        </p:nvSpPr>
        <p:spPr>
          <a:xfrm>
            <a:off x="9601200" y="2880360"/>
            <a:ext cx="2103120" cy="1371600"/>
          </a:xfrm>
          <a:prstGeom prst="rect">
            <a:avLst/>
          </a:prstGeom>
          <a:solidFill>
            <a:srgbClr val="FBEBC8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31" name="AIT title"/>
          <p:cNvSpPr txBox="1"/>
          <p:nvPr/>
        </p:nvSpPr>
        <p:spPr>
          <a:xfrm>
            <a:off x="9738360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chatbot</a:t>
            </a:r>
            <a:endParaRPr lang="en-US" sz="1400" dirty="0"/>
          </a:p>
        </p:txBody>
      </p:sp>
      <p:sp>
        <p:nvSpPr>
          <p:cNvPr id="32" name="AIT count"/>
          <p:cNvSpPr txBox="1"/>
          <p:nvPr/>
        </p:nvSpPr>
        <p:spPr>
          <a:xfrm>
            <a:off x="97383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requirements</a:t>
            </a:r>
            <a:endParaRPr lang="en-US" sz="1200" dirty="0"/>
          </a:p>
        </p:txBody>
      </p:sp>
      <p:sp>
        <p:nvSpPr>
          <p:cNvPr id="33" name="AIG card"/>
          <p:cNvSpPr/>
          <p:nvPr/>
        </p:nvSpPr>
        <p:spPr>
          <a:xfrm>
            <a:off x="640080" y="4389120"/>
            <a:ext cx="2103120" cy="1371600"/>
          </a:xfrm>
          <a:prstGeom prst="rect">
            <a:avLst/>
          </a:prstGeom>
          <a:solidFill>
            <a:srgbClr val="FBEBC8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34" name="AIG title"/>
          <p:cNvSpPr txBox="1"/>
          <p:nvPr/>
        </p:nvSpPr>
        <p:spPr>
          <a:xfrm>
            <a:off x="777240" y="4480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and feedback generator</a:t>
            </a:r>
            <a:endParaRPr lang="en-US" sz="1400" dirty="0"/>
          </a:p>
        </p:txBody>
      </p:sp>
      <p:sp>
        <p:nvSpPr>
          <p:cNvPr id="35" name="AIG count"/>
          <p:cNvSpPr txBox="1"/>
          <p:nvPr/>
        </p:nvSpPr>
        <p:spPr>
          <a:xfrm>
            <a:off x="77724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requirements</a:t>
            </a:r>
            <a:endParaRPr lang="en-US" sz="1200" dirty="0"/>
          </a:p>
        </p:txBody>
      </p:sp>
      <p:sp>
        <p:nvSpPr>
          <p:cNvPr id="36" name="AIA card"/>
          <p:cNvSpPr/>
          <p:nvPr/>
        </p:nvSpPr>
        <p:spPr>
          <a:xfrm>
            <a:off x="2880360" y="4389120"/>
            <a:ext cx="2103120" cy="1371600"/>
          </a:xfrm>
          <a:prstGeom prst="rect">
            <a:avLst/>
          </a:prstGeom>
          <a:solidFill>
            <a:srgbClr val="FBEBC8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37" name="AIA title"/>
          <p:cNvSpPr txBox="1"/>
          <p:nvPr/>
        </p:nvSpPr>
        <p:spPr>
          <a:xfrm>
            <a:off x="3017520" y="4480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analyzer</a:t>
            </a:r>
            <a:endParaRPr lang="en-US" sz="1400" dirty="0"/>
          </a:p>
        </p:txBody>
      </p:sp>
      <p:sp>
        <p:nvSpPr>
          <p:cNvPr id="38" name="AIA count"/>
          <p:cNvSpPr txBox="1"/>
          <p:nvPr/>
        </p:nvSpPr>
        <p:spPr>
          <a:xfrm>
            <a:off x="301752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requirements</a:t>
            </a:r>
            <a:endParaRPr lang="en-US" sz="1200" dirty="0"/>
          </a:p>
        </p:txBody>
      </p:sp>
      <p:sp>
        <p:nvSpPr>
          <p:cNvPr id="39" name="AIR card"/>
          <p:cNvSpPr/>
          <p:nvPr/>
        </p:nvSpPr>
        <p:spPr>
          <a:xfrm>
            <a:off x="5120640" y="4389120"/>
            <a:ext cx="2103120" cy="1371600"/>
          </a:xfrm>
          <a:prstGeom prst="rect">
            <a:avLst/>
          </a:prstGeom>
          <a:solidFill>
            <a:srgbClr val="FBEBC8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40" name="AIR title"/>
          <p:cNvSpPr txBox="1"/>
          <p:nvPr/>
        </p:nvSpPr>
        <p:spPr>
          <a:xfrm>
            <a:off x="5257800" y="4480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recommendations</a:t>
            </a:r>
            <a:endParaRPr lang="en-US" sz="1400" dirty="0"/>
          </a:p>
        </p:txBody>
      </p:sp>
      <p:sp>
        <p:nvSpPr>
          <p:cNvPr id="41" name="AIR count"/>
          <p:cNvSpPr txBox="1"/>
          <p:nvPr/>
        </p:nvSpPr>
        <p:spPr>
          <a:xfrm>
            <a:off x="525780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requirements</a:t>
            </a:r>
            <a:endParaRPr lang="en-US" sz="1200" dirty="0"/>
          </a:p>
        </p:txBody>
      </p:sp>
      <p:sp>
        <p:nvSpPr>
          <p:cNvPr id="42" name="Legend"/>
          <p:cNvSpPr txBox="1"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cards are the AI features.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features, each with a clear job</a:t>
            </a:r>
            <a:endParaRPr lang="en-US" sz="3200" dirty="0"/>
          </a:p>
        </p:txBody>
      </p:sp>
      <p:sp>
        <p:nvSpPr>
          <p:cNvPr id="3" name="AI tutor card"/>
          <p:cNvSpPr/>
          <p:nvPr/>
        </p:nvSpPr>
        <p:spPr>
          <a:xfrm>
            <a:off x="640080" y="1417320"/>
            <a:ext cx="5349240" cy="219456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4" name="AI tutor accent"/>
          <p:cNvSpPr/>
          <p:nvPr/>
        </p:nvSpPr>
        <p:spPr>
          <a:xfrm>
            <a:off x="640080" y="1417320"/>
            <a:ext cx="73152" cy="2194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I tutor heading"/>
          <p:cNvSpPr txBox="1"/>
          <p:nvPr/>
        </p:nvSpPr>
        <p:spPr>
          <a:xfrm>
            <a:off x="914400" y="15819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800" dirty="0"/>
          </a:p>
        </p:txBody>
      </p:sp>
      <p:sp>
        <p:nvSpPr>
          <p:cNvPr id="6" name="AI tutor text"/>
          <p:cNvSpPr txBox="1"/>
          <p:nvPr/>
        </p:nvSpPr>
        <p:spPr>
          <a:xfrm>
            <a:off x="914400" y="210312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student questions from the course material only, and cites the lesson.</a:t>
            </a:r>
            <a:endParaRPr lang="en-US" sz="1600" dirty="0"/>
          </a:p>
        </p:txBody>
      </p:sp>
      <p:sp>
        <p:nvSpPr>
          <p:cNvPr id="7" name="Quiz and feedback generator card"/>
          <p:cNvSpPr/>
          <p:nvPr/>
        </p:nvSpPr>
        <p:spPr>
          <a:xfrm>
            <a:off x="6217920" y="1417320"/>
            <a:ext cx="5349240" cy="219456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8" name="Quiz and feedback generator accent"/>
          <p:cNvSpPr/>
          <p:nvPr/>
        </p:nvSpPr>
        <p:spPr>
          <a:xfrm>
            <a:off x="6217920" y="1417320"/>
            <a:ext cx="73152" cy="2194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Quiz and feedback generator heading"/>
          <p:cNvSpPr txBox="1"/>
          <p:nvPr/>
        </p:nvSpPr>
        <p:spPr>
          <a:xfrm>
            <a:off x="6492240" y="15819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and feedback generator</a:t>
            </a:r>
            <a:endParaRPr lang="en-US" sz="1800" dirty="0"/>
          </a:p>
        </p:txBody>
      </p:sp>
      <p:sp>
        <p:nvSpPr>
          <p:cNvPr id="10" name="Quiz and feedback generator text"/>
          <p:cNvSpPr txBox="1"/>
          <p:nvPr/>
        </p:nvSpPr>
        <p:spPr>
          <a:xfrm>
            <a:off x="6492240" y="210312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questions and assignment feedback. The instructor approves everything.</a:t>
            </a:r>
            <a:endParaRPr lang="en-US" sz="1600" dirty="0"/>
          </a:p>
        </p:txBody>
      </p:sp>
      <p:sp>
        <p:nvSpPr>
          <p:cNvPr id="11" name="Learning analyzer card"/>
          <p:cNvSpPr/>
          <p:nvPr/>
        </p:nvSpPr>
        <p:spPr>
          <a:xfrm>
            <a:off x="640080" y="3794760"/>
            <a:ext cx="5349240" cy="219456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12" name="Learning analyzer accent"/>
          <p:cNvSpPr/>
          <p:nvPr/>
        </p:nvSpPr>
        <p:spPr>
          <a:xfrm>
            <a:off x="640080" y="3794760"/>
            <a:ext cx="73152" cy="21945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Learning analyzer heading"/>
          <p:cNvSpPr txBox="1"/>
          <p:nvPr/>
        </p:nvSpPr>
        <p:spPr>
          <a:xfrm>
            <a:off x="91440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analyzer</a:t>
            </a:r>
            <a:endParaRPr lang="en-US" sz="1800" dirty="0"/>
          </a:p>
        </p:txBody>
      </p:sp>
      <p:sp>
        <p:nvSpPr>
          <p:cNvPr id="14" name="Learning analyzer text"/>
          <p:cNvSpPr txBox="1"/>
          <p:nvPr/>
        </p:nvSpPr>
        <p:spPr>
          <a:xfrm>
            <a:off x="914400" y="4480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students at risk, finds weak topics and shows each student their pace.</a:t>
            </a:r>
            <a:endParaRPr lang="en-US" sz="1600" dirty="0"/>
          </a:p>
        </p:txBody>
      </p:sp>
      <p:sp>
        <p:nvSpPr>
          <p:cNvPr id="15" name="Recommendations card"/>
          <p:cNvSpPr/>
          <p:nvPr/>
        </p:nvSpPr>
        <p:spPr>
          <a:xfrm>
            <a:off x="6217920" y="3794760"/>
            <a:ext cx="5349240" cy="219456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16" name="Recommendations accent"/>
          <p:cNvSpPr/>
          <p:nvPr/>
        </p:nvSpPr>
        <p:spPr>
          <a:xfrm>
            <a:off x="6217920" y="3794760"/>
            <a:ext cx="73152" cy="21945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Recommendations heading"/>
          <p:cNvSpPr txBox="1"/>
          <p:nvPr/>
        </p:nvSpPr>
        <p:spPr>
          <a:xfrm>
            <a:off x="649224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8" name="Recommendations text"/>
          <p:cNvSpPr txBox="1"/>
          <p:nvPr/>
        </p:nvSpPr>
        <p:spPr>
          <a:xfrm>
            <a:off x="6492240" y="4480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up to three next courses and explains why.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tutor answers a question</a:t>
            </a:r>
            <a:endParaRPr lang="en-US" sz="3200" dirty="0"/>
          </a:p>
        </p:txBody>
      </p:sp>
      <p:sp>
        <p:nvSpPr>
          <p:cNvPr id="3" name="Step 1 badge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B6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640080" y="2240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 a question in a lesson</a:t>
            </a:r>
            <a:endParaRPr lang="en-US" sz="1500" dirty="0"/>
          </a:p>
        </p:txBody>
      </p:sp>
      <p:sp>
        <p:nvSpPr>
          <p:cNvPr id="6" name="Step 2 badge"/>
          <p:cNvSpPr/>
          <p:nvPr/>
        </p:nvSpPr>
        <p:spPr>
          <a:xfrm>
            <a:off x="3383280" y="1645920"/>
            <a:ext cx="457200" cy="457200"/>
          </a:xfrm>
          <a:prstGeom prst="ellipse">
            <a:avLst/>
          </a:prstGeom>
          <a:solidFill>
            <a:srgbClr val="0B6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tep 2 number"/>
          <p:cNvSpPr txBox="1"/>
          <p:nvPr/>
        </p:nvSpPr>
        <p:spPr>
          <a:xfrm>
            <a:off x="33832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3383280" y="2240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checks sign-in, enrollment and rate limit</a:t>
            </a:r>
            <a:endParaRPr lang="en-US" sz="1500" dirty="0"/>
          </a:p>
        </p:txBody>
      </p:sp>
      <p:sp>
        <p:nvSpPr>
          <p:cNvPr id="9" name="Step 3 badge"/>
          <p:cNvSpPr/>
          <p:nvPr/>
        </p:nvSpPr>
        <p:spPr>
          <a:xfrm>
            <a:off x="6126480" y="1645920"/>
            <a:ext cx="457200" cy="457200"/>
          </a:xfrm>
          <a:prstGeom prst="ellipse">
            <a:avLst/>
          </a:prstGeom>
          <a:solidFill>
            <a:srgbClr val="0B6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tep 3 number"/>
          <p:cNvSpPr txBox="1"/>
          <p:nvPr/>
        </p:nvSpPr>
        <p:spPr>
          <a:xfrm>
            <a:off x="61264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6126480" y="2240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is matched to the 5 most relevant course passages</a:t>
            </a:r>
            <a:endParaRPr lang="en-US" sz="1500" dirty="0"/>
          </a:p>
        </p:txBody>
      </p:sp>
      <p:sp>
        <p:nvSpPr>
          <p:cNvPr id="12" name="Step 4 badge"/>
          <p:cNvSpPr/>
          <p:nvPr/>
        </p:nvSpPr>
        <p:spPr>
          <a:xfrm>
            <a:off x="8869680" y="164592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tep 4 number"/>
          <p:cNvSpPr txBox="1"/>
          <p:nvPr/>
        </p:nvSpPr>
        <p:spPr>
          <a:xfrm>
            <a:off x="88696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8869680" y="2240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good match: reply that the answer is not in the course</a:t>
            </a:r>
            <a:endParaRPr lang="en-US" sz="1500" dirty="0"/>
          </a:p>
        </p:txBody>
      </p:sp>
      <p:sp>
        <p:nvSpPr>
          <p:cNvPr id="15" name="Step 5 badge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0B6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tep 5 number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640080" y="43434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is built from rules, passages and recent chat</a:t>
            </a:r>
            <a:endParaRPr lang="en-US" sz="1500" dirty="0"/>
          </a:p>
        </p:txBody>
      </p:sp>
      <p:sp>
        <p:nvSpPr>
          <p:cNvPr id="18" name="Step 6 badge"/>
          <p:cNvSpPr/>
          <p:nvPr/>
        </p:nvSpPr>
        <p:spPr>
          <a:xfrm>
            <a:off x="3383280" y="3749040"/>
            <a:ext cx="457200" cy="457200"/>
          </a:xfrm>
          <a:prstGeom prst="ellipse">
            <a:avLst/>
          </a:prstGeom>
          <a:solidFill>
            <a:srgbClr val="0B6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ep 6 number"/>
          <p:cNvSpPr txBox="1"/>
          <p:nvPr/>
        </p:nvSpPr>
        <p:spPr>
          <a:xfrm>
            <a:off x="33832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3383280" y="43434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writes an answer from the passages</a:t>
            </a:r>
            <a:endParaRPr lang="en-US" sz="1500" dirty="0"/>
          </a:p>
        </p:txBody>
      </p:sp>
      <p:sp>
        <p:nvSpPr>
          <p:cNvPr id="21" name="Step 7 badge"/>
          <p:cNvSpPr/>
          <p:nvPr/>
        </p:nvSpPr>
        <p:spPr>
          <a:xfrm>
            <a:off x="6126480" y="3749040"/>
            <a:ext cx="457200" cy="457200"/>
          </a:xfrm>
          <a:prstGeom prst="ellipse">
            <a:avLst/>
          </a:prstGeom>
          <a:solidFill>
            <a:srgbClr val="0B6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tep 7 number"/>
          <p:cNvSpPr txBox="1"/>
          <p:nvPr/>
        </p:nvSpPr>
        <p:spPr>
          <a:xfrm>
            <a:off x="61264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6126480" y="43434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checks citations and integrity rules</a:t>
            </a:r>
            <a:endParaRPr lang="en-US" sz="1500" dirty="0"/>
          </a:p>
        </p:txBody>
      </p:sp>
      <p:sp>
        <p:nvSpPr>
          <p:cNvPr id="24" name="Step 8 badge"/>
          <p:cNvSpPr/>
          <p:nvPr/>
        </p:nvSpPr>
        <p:spPr>
          <a:xfrm>
            <a:off x="8869680" y="3749040"/>
            <a:ext cx="457200" cy="457200"/>
          </a:xfrm>
          <a:prstGeom prst="ellipse">
            <a:avLst/>
          </a:prstGeom>
          <a:solidFill>
            <a:srgbClr val="0B6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tep 8 number"/>
          <p:cNvSpPr txBox="1"/>
          <p:nvPr/>
        </p:nvSpPr>
        <p:spPr>
          <a:xfrm>
            <a:off x="88696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Step 8 text"/>
          <p:cNvSpPr txBox="1"/>
          <p:nvPr/>
        </p:nvSpPr>
        <p:spPr>
          <a:xfrm>
            <a:off x="8869680" y="43434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and sources are stored and streamed back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stay in charge of anything that affects a grade</a:t>
            </a:r>
            <a:endParaRPr lang="en-US" sz="3200" dirty="0"/>
          </a:p>
        </p:txBody>
      </p:sp>
      <p:sp>
        <p:nvSpPr>
          <p:cNvPr id="3" name="Approval card"/>
          <p:cNvSpPr/>
          <p:nvPr/>
        </p:nvSpPr>
        <p:spPr>
          <a:xfrm>
            <a:off x="640080" y="1463040"/>
            <a:ext cx="5303520" cy="448056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4" name="Approval accent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Approval heading"/>
          <p:cNvSpPr txBox="1"/>
          <p:nvPr/>
        </p:nvSpPr>
        <p:spPr>
          <a:xfrm>
            <a:off x="914400" y="1627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approval</a:t>
            </a:r>
            <a:endParaRPr lang="en-US" sz="1800" dirty="0"/>
          </a:p>
        </p:txBody>
      </p:sp>
      <p:sp>
        <p:nvSpPr>
          <p:cNvPr id="6" name="Approval text"/>
          <p:cNvSpPr txBox="1"/>
          <p:nvPr/>
        </p:nvSpPr>
        <p:spPr>
          <a:xfrm>
            <a:off x="914400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questions are drafts until approved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feedback is hidden from the student until approved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marks are only suggestions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feedback is labelled when shown</a:t>
            </a:r>
            <a:endParaRPr lang="en-US" sz="1800" dirty="0"/>
          </a:p>
        </p:txBody>
      </p:sp>
      <p:sp>
        <p:nvSpPr>
          <p:cNvPr id="7" name="Guardrails card"/>
          <p:cNvSpPr/>
          <p:nvPr/>
        </p:nvSpPr>
        <p:spPr>
          <a:xfrm>
            <a:off x="6245352" y="1463040"/>
            <a:ext cx="5303520" cy="4480560"/>
          </a:xfrm>
          <a:prstGeom prst="rect">
            <a:avLst/>
          </a:prstGeom>
          <a:solidFill>
            <a:schemeClr val="bg2"/>
          </a:solidFill>
          <a:ln w="9525">
            <a:solidFill>
              <a:srgbClr val="D7DFE6"/>
            </a:solidFill>
            <a:prstDash val="solid"/>
          </a:ln>
        </p:spPr>
      </p:sp>
      <p:sp>
        <p:nvSpPr>
          <p:cNvPr id="8" name="Guardrails accent"/>
          <p:cNvSpPr/>
          <p:nvPr/>
        </p:nvSpPr>
        <p:spPr>
          <a:xfrm>
            <a:off x="6245352" y="1463040"/>
            <a:ext cx="73152" cy="4480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Guardrails heading"/>
          <p:cNvSpPr txBox="1"/>
          <p:nvPr/>
        </p:nvSpPr>
        <p:spPr>
          <a:xfrm>
            <a:off x="6519672" y="1627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for students</a:t>
            </a:r>
            <a:endParaRPr lang="en-US" sz="1800" dirty="0"/>
          </a:p>
        </p:txBody>
      </p:sp>
      <p:sp>
        <p:nvSpPr>
          <p:cNvPr id="10" name="Guardrails text"/>
          <p:cNvSpPr txBox="1"/>
          <p:nvPr/>
        </p:nvSpPr>
        <p:spPr>
          <a:xfrm>
            <a:off x="6519672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refuses to invent answers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Hints, not final answers, for graded work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answer is labelled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opt out of personal insights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outage never blocks the LMS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targets</a:t>
            </a:r>
            <a:endParaRPr lang="en-US" sz="32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14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 under 3 s; tutor starts answering within 3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concurrent users in release 1.0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 per month; daily backups kept 14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Hashed passwords, HTTPS, OWASP Top 10 defences, server-only AI keys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Pseudonymous IDs sent to the AI; chats kept 12 months; DPDP Act principles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quality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90% of tutor answers supported by course material on a 100-question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2.2 AA, responsive from 360 px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and AI data</a:t>
            </a:r>
            <a:endParaRPr lang="en-US" sz="3200" dirty="0"/>
          </a:p>
        </p:txBody>
      </p:sp>
      <p:sp>
        <p:nvSpPr>
          <p:cNvPr id="3" name="Learning data"/>
          <p:cNvSpPr txBox="1"/>
          <p:nvPr/>
        </p:nvSpPr>
        <p:spPr>
          <a:xfrm>
            <a:off x="64008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data</a:t>
            </a:r>
            <a:endParaRPr lang="en-US" sz="1400" dirty="0"/>
          </a:p>
        </p:txBody>
      </p:sp>
      <p:sp>
        <p:nvSpPr>
          <p:cNvPr id="4" name="users box"/>
          <p:cNvSpPr/>
          <p:nvPr/>
        </p:nvSpPr>
        <p:spPr>
          <a:xfrm>
            <a:off x="640080" y="19202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5" name="users label"/>
          <p:cNvSpPr txBox="1"/>
          <p:nvPr/>
        </p:nvSpPr>
        <p:spPr>
          <a:xfrm>
            <a:off x="640080" y="1920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courses box"/>
          <p:cNvSpPr/>
          <p:nvPr/>
        </p:nvSpPr>
        <p:spPr>
          <a:xfrm>
            <a:off x="2834640" y="19202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7" name="courses label"/>
          <p:cNvSpPr txBox="1"/>
          <p:nvPr/>
        </p:nvSpPr>
        <p:spPr>
          <a:xfrm>
            <a:off x="2834640" y="1920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400" dirty="0"/>
          </a:p>
        </p:txBody>
      </p:sp>
      <p:sp>
        <p:nvSpPr>
          <p:cNvPr id="8" name="modules and lessons box"/>
          <p:cNvSpPr/>
          <p:nvPr/>
        </p:nvSpPr>
        <p:spPr>
          <a:xfrm>
            <a:off x="5029200" y="19202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9" name="modules and lessons label"/>
          <p:cNvSpPr txBox="1"/>
          <p:nvPr/>
        </p:nvSpPr>
        <p:spPr>
          <a:xfrm>
            <a:off x="5029200" y="1920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and lessons</a:t>
            </a:r>
            <a:endParaRPr lang="en-US" sz="1400" dirty="0"/>
          </a:p>
        </p:txBody>
      </p:sp>
      <p:sp>
        <p:nvSpPr>
          <p:cNvPr id="10" name="enrollments box"/>
          <p:cNvSpPr/>
          <p:nvPr/>
        </p:nvSpPr>
        <p:spPr>
          <a:xfrm>
            <a:off x="7223760" y="19202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11" name="enrollments label"/>
          <p:cNvSpPr txBox="1"/>
          <p:nvPr/>
        </p:nvSpPr>
        <p:spPr>
          <a:xfrm>
            <a:off x="7223760" y="1920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400" dirty="0"/>
          </a:p>
        </p:txBody>
      </p:sp>
      <p:sp>
        <p:nvSpPr>
          <p:cNvPr id="12" name="lesson_progress box"/>
          <p:cNvSpPr/>
          <p:nvPr/>
        </p:nvSpPr>
        <p:spPr>
          <a:xfrm>
            <a:off x="9418320" y="19202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13" name="lesson_progress label"/>
          <p:cNvSpPr txBox="1"/>
          <p:nvPr/>
        </p:nvSpPr>
        <p:spPr>
          <a:xfrm>
            <a:off x="9418320" y="1920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lesson_progress</a:t>
            </a:r>
            <a:endParaRPr lang="en-US" sz="1400" dirty="0"/>
          </a:p>
        </p:txBody>
      </p:sp>
      <p:sp>
        <p:nvSpPr>
          <p:cNvPr id="14" name="Assessment data"/>
          <p:cNvSpPr txBox="1"/>
          <p:nvPr/>
        </p:nvSpPr>
        <p:spPr>
          <a:xfrm>
            <a:off x="64008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data</a:t>
            </a:r>
            <a:endParaRPr lang="en-US" sz="1400" dirty="0"/>
          </a:p>
        </p:txBody>
      </p:sp>
      <p:sp>
        <p:nvSpPr>
          <p:cNvPr id="15" name="quizzes and questions box"/>
          <p:cNvSpPr/>
          <p:nvPr/>
        </p:nvSpPr>
        <p:spPr>
          <a:xfrm>
            <a:off x="640080" y="320040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16" name="quizzes and questions label"/>
          <p:cNvSpPr txBox="1"/>
          <p:nvPr/>
        </p:nvSpPr>
        <p:spPr>
          <a:xfrm>
            <a:off x="640080" y="3200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and questions</a:t>
            </a:r>
            <a:endParaRPr lang="en-US" sz="1400" dirty="0"/>
          </a:p>
        </p:txBody>
      </p:sp>
      <p:sp>
        <p:nvSpPr>
          <p:cNvPr id="17" name="quiz_attempts box"/>
          <p:cNvSpPr/>
          <p:nvPr/>
        </p:nvSpPr>
        <p:spPr>
          <a:xfrm>
            <a:off x="2834640" y="320040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18" name="quiz_attempts label"/>
          <p:cNvSpPr txBox="1"/>
          <p:nvPr/>
        </p:nvSpPr>
        <p:spPr>
          <a:xfrm>
            <a:off x="2834640" y="3200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quiz_attempts</a:t>
            </a:r>
            <a:endParaRPr lang="en-US" sz="1400" dirty="0"/>
          </a:p>
        </p:txBody>
      </p:sp>
      <p:sp>
        <p:nvSpPr>
          <p:cNvPr id="19" name="assignments box"/>
          <p:cNvSpPr/>
          <p:nvPr/>
        </p:nvSpPr>
        <p:spPr>
          <a:xfrm>
            <a:off x="5029200" y="320040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20" name="assignments label"/>
          <p:cNvSpPr txBox="1"/>
          <p:nvPr/>
        </p:nvSpPr>
        <p:spPr>
          <a:xfrm>
            <a:off x="5029200" y="3200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400" dirty="0"/>
          </a:p>
        </p:txBody>
      </p:sp>
      <p:sp>
        <p:nvSpPr>
          <p:cNvPr id="21" name="submissions box"/>
          <p:cNvSpPr/>
          <p:nvPr/>
        </p:nvSpPr>
        <p:spPr>
          <a:xfrm>
            <a:off x="7223760" y="320040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22" name="submissions label"/>
          <p:cNvSpPr txBox="1"/>
          <p:nvPr/>
        </p:nvSpPr>
        <p:spPr>
          <a:xfrm>
            <a:off x="7223760" y="3200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400" dirty="0"/>
          </a:p>
        </p:txBody>
      </p:sp>
      <p:sp>
        <p:nvSpPr>
          <p:cNvPr id="23" name="notifications box"/>
          <p:cNvSpPr/>
          <p:nvPr/>
        </p:nvSpPr>
        <p:spPr>
          <a:xfrm>
            <a:off x="9418320" y="320040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DEBEE"/>
          </a:solidFill>
          <a:ln w="12700">
            <a:solidFill>
              <a:srgbClr val="DDEBEE"/>
            </a:solidFill>
            <a:prstDash val="solid"/>
          </a:ln>
        </p:spPr>
      </p:sp>
      <p:sp>
        <p:nvSpPr>
          <p:cNvPr id="24" name="notifications label"/>
          <p:cNvSpPr txBox="1"/>
          <p:nvPr/>
        </p:nvSpPr>
        <p:spPr>
          <a:xfrm>
            <a:off x="9418320" y="3200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25" name="AI data"/>
          <p:cNvSpPr txBox="1"/>
          <p:nvPr/>
        </p:nvSpPr>
        <p:spPr>
          <a:xfrm>
            <a:off x="64008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</a:t>
            </a:r>
            <a:endParaRPr lang="en-US" sz="1400" dirty="0"/>
          </a:p>
        </p:txBody>
      </p:sp>
      <p:sp>
        <p:nvSpPr>
          <p:cNvPr id="26" name="content_chunks box"/>
          <p:cNvSpPr/>
          <p:nvPr/>
        </p:nvSpPr>
        <p:spPr>
          <a:xfrm>
            <a:off x="640080" y="47548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7" name="content_chunks label"/>
          <p:cNvSpPr txBox="1"/>
          <p:nvPr/>
        </p:nvSpPr>
        <p:spPr>
          <a:xfrm>
            <a:off x="640080" y="4754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content_chunks</a:t>
            </a:r>
            <a:endParaRPr lang="en-US" sz="1400" dirty="0"/>
          </a:p>
        </p:txBody>
      </p:sp>
      <p:sp>
        <p:nvSpPr>
          <p:cNvPr id="28" name="chat_messages box"/>
          <p:cNvSpPr/>
          <p:nvPr/>
        </p:nvSpPr>
        <p:spPr>
          <a:xfrm>
            <a:off x="2834640" y="47548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9" name="chat_messages label"/>
          <p:cNvSpPr txBox="1"/>
          <p:nvPr/>
        </p:nvSpPr>
        <p:spPr>
          <a:xfrm>
            <a:off x="2834640" y="4754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chat_messages</a:t>
            </a:r>
            <a:endParaRPr lang="en-US" sz="1400" dirty="0"/>
          </a:p>
        </p:txBody>
      </p:sp>
      <p:sp>
        <p:nvSpPr>
          <p:cNvPr id="30" name="ai_feedback_drafts box"/>
          <p:cNvSpPr/>
          <p:nvPr/>
        </p:nvSpPr>
        <p:spPr>
          <a:xfrm>
            <a:off x="5029200" y="47548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1" name="ai_feedback_drafts label"/>
          <p:cNvSpPr txBox="1"/>
          <p:nvPr/>
        </p:nvSpPr>
        <p:spPr>
          <a:xfrm>
            <a:off x="5029200" y="4754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ai_feedback_drafts</a:t>
            </a:r>
            <a:endParaRPr lang="en-US" sz="1400" dirty="0"/>
          </a:p>
        </p:txBody>
      </p:sp>
      <p:sp>
        <p:nvSpPr>
          <p:cNvPr id="32" name="insights box"/>
          <p:cNvSpPr/>
          <p:nvPr/>
        </p:nvSpPr>
        <p:spPr>
          <a:xfrm>
            <a:off x="7223760" y="47548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3" name="insights label"/>
          <p:cNvSpPr txBox="1"/>
          <p:nvPr/>
        </p:nvSpPr>
        <p:spPr>
          <a:xfrm>
            <a:off x="7223760" y="4754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34" name="recommendations box"/>
          <p:cNvSpPr/>
          <p:nvPr/>
        </p:nvSpPr>
        <p:spPr>
          <a:xfrm>
            <a:off x="9418320" y="47548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5" name="recommendations label"/>
          <p:cNvSpPr txBox="1"/>
          <p:nvPr/>
        </p:nvSpPr>
        <p:spPr>
          <a:xfrm>
            <a:off x="9418320" y="4754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check it works</a:t>
            </a:r>
            <a:endParaRPr lang="en-US" sz="32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5079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T-06 (AIT-3)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the tutor a question unrelated to the course.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tutor says it cannot find the answer in the course and does not invent one.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T-08 (AIT-7)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 a graded quiz, ask the tutor for the answer.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tutor offers a hint and does not give the answer.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T-09 (AIG-3)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5 questions, approve 3.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3 approved questions can be added to a quiz.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 (AIG-6)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 AI feedback draft and open the submission as the student.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student cannot see the draft until the instructor approves it.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T-11 (AIA-2)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student with no activity for 8 days.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student appears on the at-risk list with the reason shown.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T-13 (REL-3)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 the AI service and open a lesson.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lesson works and the tutor panel shows a friendly unavailable message.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risks and how we handle them</a:t>
            </a:r>
            <a:endParaRPr lang="en-US" sz="32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05840"/>
                <a:gridCol w="67939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tutor gives a wrong or invented 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only from retrieved course text, refuse when nothing is found, show sources, label as AI, and review a 100-question test set before release.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use the tutor to get graded answers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integrity mode with hints only, and instructor control to switch the tutor off per course.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data is exposed to the AI provider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the minimum data, pseudonymise users, check provider terms on training and retention, and keep keys on the server.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through course content or chat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inputs as data, give the model no write access, validate outputs and log suspicious requests.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costs grow faster than planned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Per-student rate limits, response length limits, caching of repeated questions and a monthly spending cap.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Ten-week plan</a:t>
            </a:r>
            <a:endParaRPr lang="en-US" sz="3200" dirty="0"/>
          </a:p>
        </p:txBody>
      </p:sp>
      <p:sp>
        <p:nvSpPr>
          <p:cNvPr id="3" name="Phase 1 when"/>
          <p:cNvSpPr/>
          <p:nvPr/>
        </p:nvSpPr>
        <p:spPr>
          <a:xfrm>
            <a:off x="640080" y="1508760"/>
            <a:ext cx="2194560" cy="603504"/>
          </a:xfrm>
          <a:prstGeom prst="rect">
            <a:avLst/>
          </a:prstGeom>
          <a:solidFill>
            <a:srgbClr val="0B6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Phase 1 label"/>
          <p:cNvSpPr txBox="1"/>
          <p:nvPr/>
        </p:nvSpPr>
        <p:spPr>
          <a:xfrm>
            <a:off x="640080" y="150876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and 2</a:t>
            </a:r>
            <a:endParaRPr lang="en-US" sz="1500" dirty="0"/>
          </a:p>
        </p:txBody>
      </p:sp>
      <p:sp>
        <p:nvSpPr>
          <p:cNvPr id="5" name="Phase 1 work"/>
          <p:cNvSpPr txBox="1"/>
          <p:nvPr/>
        </p:nvSpPr>
        <p:spPr>
          <a:xfrm>
            <a:off x="3017520" y="1508760"/>
            <a:ext cx="8531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ER diagram, wireframes, project setup</a:t>
            </a:r>
            <a:endParaRPr lang="en-US" sz="1600" dirty="0"/>
          </a:p>
        </p:txBody>
      </p:sp>
      <p:sp>
        <p:nvSpPr>
          <p:cNvPr id="6" name="Phase 2 when"/>
          <p:cNvSpPr/>
          <p:nvPr/>
        </p:nvSpPr>
        <p:spPr>
          <a:xfrm>
            <a:off x="640080" y="2258568"/>
            <a:ext cx="2194560" cy="603504"/>
          </a:xfrm>
          <a:prstGeom prst="rect">
            <a:avLst/>
          </a:prstGeom>
          <a:solidFill>
            <a:srgbClr val="0B6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Phase 2 label"/>
          <p:cNvSpPr txBox="1"/>
          <p:nvPr/>
        </p:nvSpPr>
        <p:spPr>
          <a:xfrm>
            <a:off x="640080" y="22585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 and 4</a:t>
            </a:r>
            <a:endParaRPr lang="en-US" sz="1500" dirty="0"/>
          </a:p>
        </p:txBody>
      </p:sp>
      <p:sp>
        <p:nvSpPr>
          <p:cNvPr id="8" name="Phase 2 work"/>
          <p:cNvSpPr txBox="1"/>
          <p:nvPr/>
        </p:nvSpPr>
        <p:spPr>
          <a:xfrm>
            <a:off x="3017520" y="2258568"/>
            <a:ext cx="8531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roles, courses, modules and lessons</a:t>
            </a:r>
            <a:endParaRPr lang="en-US" sz="1600" dirty="0"/>
          </a:p>
        </p:txBody>
      </p:sp>
      <p:sp>
        <p:nvSpPr>
          <p:cNvPr id="9" name="Phase 3 when"/>
          <p:cNvSpPr/>
          <p:nvPr/>
        </p:nvSpPr>
        <p:spPr>
          <a:xfrm>
            <a:off x="640080" y="3008376"/>
            <a:ext cx="2194560" cy="603504"/>
          </a:xfrm>
          <a:prstGeom prst="rect">
            <a:avLst/>
          </a:prstGeom>
          <a:solidFill>
            <a:srgbClr val="0B6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Phase 3 label"/>
          <p:cNvSpPr txBox="1"/>
          <p:nvPr/>
        </p:nvSpPr>
        <p:spPr>
          <a:xfrm>
            <a:off x="640080" y="300837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 and 6</a:t>
            </a:r>
            <a:endParaRPr lang="en-US" sz="1500" dirty="0"/>
          </a:p>
        </p:txBody>
      </p:sp>
      <p:sp>
        <p:nvSpPr>
          <p:cNvPr id="11" name="Phase 3 work"/>
          <p:cNvSpPr txBox="1"/>
          <p:nvPr/>
        </p:nvSpPr>
        <p:spPr>
          <a:xfrm>
            <a:off x="3017520" y="3008376"/>
            <a:ext cx="8531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Enrollment, progress, quizzes, assignments, dashboards</a:t>
            </a:r>
            <a:endParaRPr lang="en-US" sz="1600" dirty="0"/>
          </a:p>
        </p:txBody>
      </p:sp>
      <p:sp>
        <p:nvSpPr>
          <p:cNvPr id="12" name="Phase 4 when"/>
          <p:cNvSpPr/>
          <p:nvPr/>
        </p:nvSpPr>
        <p:spPr>
          <a:xfrm>
            <a:off x="640080" y="3758184"/>
            <a:ext cx="2194560" cy="603504"/>
          </a:xfrm>
          <a:prstGeom prst="rect">
            <a:avLst/>
          </a:prstGeom>
          <a:solidFill>
            <a:srgbClr val="E8A3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Phase 4 label"/>
          <p:cNvSpPr txBox="1"/>
          <p:nvPr/>
        </p:nvSpPr>
        <p:spPr>
          <a:xfrm>
            <a:off x="640080" y="375818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 and 8</a:t>
            </a:r>
            <a:endParaRPr lang="en-US" sz="1500" dirty="0"/>
          </a:p>
        </p:txBody>
      </p:sp>
      <p:sp>
        <p:nvSpPr>
          <p:cNvPr id="14" name="Phase 4 work"/>
          <p:cNvSpPr txBox="1"/>
          <p:nvPr/>
        </p:nvSpPr>
        <p:spPr>
          <a:xfrm>
            <a:off x="3017520" y="3758184"/>
            <a:ext cx="8531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tutor: content indexing, retrieval, chat panel, guardrails</a:t>
            </a:r>
            <a:endParaRPr lang="en-US" sz="1600" dirty="0"/>
          </a:p>
        </p:txBody>
      </p:sp>
      <p:sp>
        <p:nvSpPr>
          <p:cNvPr id="15" name="Phase 5 when"/>
          <p:cNvSpPr/>
          <p:nvPr/>
        </p:nvSpPr>
        <p:spPr>
          <a:xfrm>
            <a:off x="640080" y="4507992"/>
            <a:ext cx="2194560" cy="603504"/>
          </a:xfrm>
          <a:prstGeom prst="rect">
            <a:avLst/>
          </a:prstGeom>
          <a:solidFill>
            <a:srgbClr val="E8A3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Phase 5 label"/>
          <p:cNvSpPr txBox="1"/>
          <p:nvPr/>
        </p:nvSpPr>
        <p:spPr>
          <a:xfrm>
            <a:off x="640080" y="450799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500" dirty="0"/>
          </a:p>
        </p:txBody>
      </p:sp>
      <p:sp>
        <p:nvSpPr>
          <p:cNvPr id="17" name="Phase 5 work"/>
          <p:cNvSpPr txBox="1"/>
          <p:nvPr/>
        </p:nvSpPr>
        <p:spPr>
          <a:xfrm>
            <a:off x="3017520" y="4507992"/>
            <a:ext cx="8531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generator, feedback drafts, analyzer and recommendations</a:t>
            </a:r>
            <a:endParaRPr lang="en-US" sz="1600" dirty="0"/>
          </a:p>
        </p:txBody>
      </p:sp>
      <p:sp>
        <p:nvSpPr>
          <p:cNvPr id="18" name="Phase 6 when"/>
          <p:cNvSpPr/>
          <p:nvPr/>
        </p:nvSpPr>
        <p:spPr>
          <a:xfrm>
            <a:off x="640080" y="5257800"/>
            <a:ext cx="2194560" cy="603504"/>
          </a:xfrm>
          <a:prstGeom prst="rect">
            <a:avLst/>
          </a:prstGeom>
          <a:solidFill>
            <a:srgbClr val="0B6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hase 6 label"/>
          <p:cNvSpPr txBox="1"/>
          <p:nvPr/>
        </p:nvSpPr>
        <p:spPr>
          <a:xfrm>
            <a:off x="640080" y="52578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500" dirty="0"/>
          </a:p>
        </p:txBody>
      </p:sp>
      <p:sp>
        <p:nvSpPr>
          <p:cNvPr id="20" name="Phase 6 work"/>
          <p:cNvSpPr txBox="1"/>
          <p:nvPr/>
        </p:nvSpPr>
        <p:spPr>
          <a:xfrm>
            <a:off x="3017520" y="5257800"/>
            <a:ext cx="8531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evaluation of AI answers, deployment, documentation, demo</a:t>
            </a:r>
            <a:endParaRPr lang="en-US" sz="1600" dirty="0"/>
          </a:p>
        </p:txBody>
      </p:sp>
      <p:sp>
        <p:nvSpPr>
          <p:cNvPr id="21" name="Legend"/>
          <p:cNvSpPr txBox="1"/>
          <p:nvPr/>
        </p:nvSpPr>
        <p:spPr>
          <a:xfrm>
            <a:off x="64008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marks the AI work.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Steps"/>
          <p:cNvSpPr txBox="1"/>
          <p:nvPr/>
        </p:nvSpPr>
        <p:spPr>
          <a:xfrm>
            <a:off x="640080" y="24688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agree the requirements with your supervisor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ER diagram and UML use case and sequence diagrams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AI provider and confirm its data terms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build with the Must requirements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V Pathshala">
  <a:themeElements>
    <a:clrScheme name="GV Pathshala">
      <a:dk1>
        <a:srgbClr val="12202B"/>
      </a:dk1>
      <a:lt1>
        <a:srgbClr val="FFFFFF"/>
      </a:lt1>
      <a:dk2>
        <a:srgbClr val="0B6E75"/>
      </a:dk2>
      <a:lt2>
        <a:srgbClr val="EEF2F5"/>
      </a:lt2>
      <a:accent1>
        <a:srgbClr val="0B6E75"/>
      </a:accent1>
      <a:accent2>
        <a:srgbClr val="E8A317"/>
      </a:accent2>
      <a:accent3>
        <a:srgbClr val="2A6FB0"/>
      </a:accent3>
      <a:accent4>
        <a:srgbClr val="7A4EAB"/>
      </a:accent4>
      <a:accent5>
        <a:srgbClr val="1F8A4C"/>
      </a:accent5>
      <a:accent6>
        <a:srgbClr val="C23B3B"/>
      </a:accent6>
      <a:hlink>
        <a:srgbClr val="0B6E75"/>
      </a:hlink>
      <a:folHlink>
        <a:srgbClr val="5A6B79"/>
      </a:folHlink>
    </a:clrScheme>
    <a:fontScheme name="GV Pathshal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GV Pathshala LMS: SRS overview</dc:title>
  <dc:subject>PptxGenJS Presentation</dc:subject>
  <dc:creator>Your name</dc:creator>
  <cp:lastModifiedBy>Your name</cp:lastModifiedBy>
  <cp:revision>1</cp:revision>
  <dcterms:created xsi:type="dcterms:W3CDTF">2026-10-14T06:17:54Z</dcterms:created>
  <dcterms:modified xsi:type="dcterms:W3CDTF">2026-10-14T06:17:54Z</dcterms:modified>
</cp:coreProperties>
</file>